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Storyboard — Biology Lab Safety: Spot the Contamination Risks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</a:rPr>
              <a:t>Text-first build document for developers, IDs, and visual designers.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33856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</a:rPr>
              <a:t>OVERVIEW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3749040" cy="2057400"/>
          </a:xfrm>
          <a:prstGeom prst="roundRect">
            <a:avLst>
              <a:gd name="adj" fmla="val 266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417320"/>
            <a:ext cx="73152" cy="205740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270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Module summary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801368"/>
            <a:ext cx="3493008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Single-slide interactive simulation for Higher Education. The learner inspects a lab setup and selects 3 contamination risks before an experiment begins. The scene includes a lab assistant who asks the question in-context.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65760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657600"/>
            <a:ext cx="73152" cy="1417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6732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Single learning 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41648"/>
            <a:ext cx="349300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Identify 3 visible contamination risks in a lab setup before beginning practical work.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141732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1417320"/>
            <a:ext cx="73152" cy="1097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152704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Interaction type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0872" y="1801368"/>
            <a:ext cx="308152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Tap / hotspot multi-select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26280" y="269748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2697480"/>
            <a:ext cx="73152" cy="10972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280720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Slide format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90872" y="3081528"/>
            <a:ext cx="308152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16:9 widescreen · one stable scene · layered states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26280" y="397764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977640"/>
            <a:ext cx="73152" cy="1097280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4087368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Completion time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90872" y="4361688"/>
            <a:ext cx="308152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About 1–2 minutes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1417320"/>
            <a:ext cx="3547872" cy="3657600"/>
          </a:xfrm>
          <a:prstGeom prst="roundRect">
            <a:avLst>
              <a:gd name="adj" fmla="val 1546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92440" y="1417320"/>
            <a:ext cx="73152" cy="365760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1527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Developer framing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57032" y="1801368"/>
            <a:ext cx="3291840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This module should feel like a pre-lab observation task, not a quiz.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Locked build rules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Lab assistant character included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5 hotspots total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3 correct + 2 plausible distractors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Manual submit required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Feedback appears as a bottom pop-up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Tone stays balanced and academic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 and Instructional Intent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F65"/>
                </a:solidFill>
              </a:rPr>
              <a:t>INSTRUCTION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89888"/>
            <a:ext cx="73152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9961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Target learner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12724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Beginner undergraduate learners entering introductory biology or life science labs.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624328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624328"/>
            <a:ext cx="73152" cy="10972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3405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Learning need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008376"/>
            <a:ext cx="31272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Learners often hear contamination rules passively but fail to spot risks in an actual setup.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904488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904488"/>
            <a:ext cx="73152" cy="1051560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1421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Single objective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288536"/>
            <a:ext cx="312724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Identify the 3 visible contamination risks before practical work begins.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60520" y="1389888"/>
            <a:ext cx="3749040" cy="1828800"/>
          </a:xfrm>
          <a:prstGeom prst="roundRect">
            <a:avLst>
              <a:gd name="adj" fmla="val 3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0520" y="1389888"/>
            <a:ext cx="73152" cy="1828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14996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Why interactivity is used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25112" y="1773936"/>
            <a:ext cx="349300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This outcome depends on observation and judgment. A hotspot interaction is stronger than passive explanation because the learner must inspect the scene, notice details, and decide what is unsafe.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3493008"/>
            <a:ext cx="3749040" cy="1463040"/>
          </a:xfrm>
          <a:prstGeom prst="roundRect">
            <a:avLst>
              <a:gd name="adj" fmla="val 375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3493008"/>
            <a:ext cx="73152" cy="146304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25112" y="360273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Instructional logic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25112" y="3877056"/>
            <a:ext cx="349300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Observe → Select → Evaluate → Reinforce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The learning moment happens when the learner compares what they chose against what the scene actually requires.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1389888"/>
            <a:ext cx="3493008" cy="3566160"/>
          </a:xfrm>
          <a:prstGeom prst="roundRect">
            <a:avLst>
              <a:gd name="adj" fmla="val 1571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8160" y="1389888"/>
            <a:ext cx="73152" cy="356616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1499616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What this module is not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02752" y="1773936"/>
            <a:ext cx="3236976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Not a hidden-object game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Not a score-first quiz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Not a long safety lecture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It is a short recognition task that trains visible risk scanning before action.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 Summary and Functional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</a:rPr>
              <a:t>LOGIC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71600"/>
            <a:ext cx="73152" cy="1097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8132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Learner task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55648"/>
            <a:ext cx="35844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Tap the 3 items in the lab scene that could compromise sample integrity.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69748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697480"/>
            <a:ext cx="73152" cy="214884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0720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Hotspot 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081528"/>
            <a:ext cx="3584448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Correct hotspots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HS_01 Open petri dish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HS_02 Gloved hand touching phone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HS_03 Unlabeled reagent bottle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Distractors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HS_04 Closed sterile packet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HS_05 Properly placed waste container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1371600"/>
            <a:ext cx="3291840" cy="1874520"/>
          </a:xfrm>
          <a:prstGeom prst="roundRect">
            <a:avLst>
              <a:gd name="adj" fmla="val 292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371600"/>
            <a:ext cx="73152" cy="1874520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4813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Selection rules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82312" y="1755648"/>
            <a:ext cx="303580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Max 3 selections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Deselect allowed before submit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Submit stays disabled until exactly 3 are selected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No correctness shown during selection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3493008"/>
            <a:ext cx="3291840" cy="1353312"/>
          </a:xfrm>
          <a:prstGeom prst="roundRect">
            <a:avLst>
              <a:gd name="adj" fmla="val 4054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493008"/>
            <a:ext cx="73152" cy="13533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60273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Success condition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82312" y="3877056"/>
            <a:ext cx="303580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Only HS_01, HS_02, and HS_03 are selected.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19872" y="137160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19872" y="1371600"/>
            <a:ext cx="73152" cy="34747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1481328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Post-submit behavior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84464" y="1755648"/>
            <a:ext cx="3264408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Selected hotspots are evaluated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Correct selections are marked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Incorrect selections are marked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Missed correct hotspot(s) are revealed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Bottom feedback panel opens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Summary + retry option appear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Important: do not auto-submit on the third click. The learner must click Submit.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Screen Composition and Layout 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</a:rPr>
              <a:t>LAYOUT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6812280" cy="4526280"/>
          </a:xfrm>
          <a:prstGeom prst="roundRect">
            <a:avLst>
              <a:gd name="adj" fmla="val 1616"/>
            </a:avLst>
          </a:prstGeom>
          <a:solidFill>
            <a:srgbClr val="F9FBFD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435608"/>
            <a:ext cx="6775704" cy="475488"/>
          </a:xfrm>
          <a:prstGeom prst="rect">
            <a:avLst/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51790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Before You Begin the Experiment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168249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5"/>
                </a:solidFill>
              </a:rPr>
              <a:t>Tap the 3 areas that could compromise sample integrity.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7824" y="2130552"/>
            <a:ext cx="4632350" cy="2217877"/>
          </a:xfrm>
          <a:prstGeom prst="roundRect">
            <a:avLst>
              <a:gd name="adj" fmla="val 2061"/>
            </a:avLst>
          </a:prstGeom>
          <a:solidFill>
            <a:srgbClr val="F6F8FB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3108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5"/>
                </a:solidFill>
              </a:rPr>
              <a:t>Main lab scene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5568" y="3749040"/>
            <a:ext cx="3814877" cy="329184"/>
          </a:xfrm>
          <a:prstGeom prst="rect">
            <a:avLst/>
          </a:prstGeom>
          <a:solidFill>
            <a:srgbClr val="D7E2EB"/>
          </a:solidFill>
          <a:ln w="12700">
            <a:solidFill>
              <a:srgbClr val="C7D4D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350008"/>
            <a:ext cx="1005840" cy="15361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664208" y="229514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92224" y="2423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746"/>
                </a:solidFill>
              </a:rPr>
              <a:t>“Before we begin, which 3 things here could contaminate the experiment?”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2258568" y="32918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54580" y="33649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72968" y="30175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8980" y="30906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950208" y="32004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6220" y="32735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81728" y="3108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7740" y="31821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38928" y="36118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4940" y="36850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30368" y="4846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Selected: 0 of 3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10528" y="4727448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C7D4D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29400" y="4818888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87568" y="4727448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48188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285"/>
                </a:solidFill>
              </a:rPr>
              <a:t>Reset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26680" y="1444752"/>
            <a:ext cx="3657600" cy="987552"/>
          </a:xfrm>
          <a:prstGeom prst="roundRect">
            <a:avLst>
              <a:gd name="adj" fmla="val 5556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726680" y="1444752"/>
            <a:ext cx="73152" cy="9875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91272" y="15544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Region A · Header strip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891272" y="1828800"/>
            <a:ext cx="34015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Top title + one-line instruction. Keep concise.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726680" y="2596896"/>
            <a:ext cx="3657600" cy="987552"/>
          </a:xfrm>
          <a:prstGeom prst="roundRect">
            <a:avLst>
              <a:gd name="adj" fmla="val 5556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726680" y="2596896"/>
            <a:ext cx="73152" cy="987552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91272" y="270662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Region B · Main lab scene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891272" y="2980944"/>
            <a:ext cx="34015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Scene anchor holding bench, props, and all 5 hotspots.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726680" y="3749040"/>
            <a:ext cx="3657600" cy="987552"/>
          </a:xfrm>
          <a:prstGeom prst="roundRect">
            <a:avLst>
              <a:gd name="adj" fmla="val 5556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726680" y="3749040"/>
            <a:ext cx="73152" cy="987552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91272" y="38587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Region C · Character zone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891272" y="4133088"/>
            <a:ext cx="34015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Lab assistant stands in-scene and asks the question naturally.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7726680" y="4901184"/>
            <a:ext cx="3657600" cy="987552"/>
          </a:xfrm>
          <a:prstGeom prst="roundRect">
            <a:avLst>
              <a:gd name="adj" fmla="val 5556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726680" y="4901184"/>
            <a:ext cx="73152" cy="987552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91272" y="501091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Region D + E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891272" y="5285232"/>
            <a:ext cx="34015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Controls stay lower right. Feedback opens upward from a bottom pop-up panel.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Assets and Visual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A63B"/>
                </a:solidFill>
              </a:rPr>
              <a:t>ASSETS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89888"/>
            <a:ext cx="73152" cy="19202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996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Scene asset · IMG_LAB_SCENE_BG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4930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 realistic lab bench scene containing the five target objects, supporting lab props, and the lab assistant character. The style should feel credible and clean rather than playful.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547872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547872"/>
            <a:ext cx="73152" cy="141732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576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Character asset · CHAR_LAB_GUIDE_01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49300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Lab assistant / teaching assistant. Young adult, lab-coat context, neutral credible expression. One speaking pose is enough.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1389888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1389888"/>
            <a:ext cx="73152" cy="1508760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499616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Interactive elements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90872" y="1773936"/>
            <a:ext cx="3081528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HS_01 to HS_05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BTN_SUBMIT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BTN_RESET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BTN_RETRY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3136392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136392"/>
            <a:ext cx="73152" cy="1828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324612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Feedback overlays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90872" y="3520440"/>
            <a:ext cx="308152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MRK_CORRECT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MRK_INCORRECT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MRK_MISSED_CORRECT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Short label callouts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Bottom feedback panel background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92440" y="1389888"/>
            <a:ext cx="3547872" cy="3566160"/>
          </a:xfrm>
          <a:prstGeom prst="roundRect">
            <a:avLst>
              <a:gd name="adj" fmla="val 1546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2440" y="1389888"/>
            <a:ext cx="73152" cy="356616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14996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Build note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57032" y="1773936"/>
            <a:ext cx="3291840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Hotspot hit areas should be slightly larger than the exact visible object edges for usability, but not so large that nearby objects trigger accidentally.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The character should feel part of the scene, not like a mascot dropped over the interface.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State_Default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F65"/>
                </a:solidFill>
              </a:rPr>
              <a:t>STATE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9FBFD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389888"/>
            <a:ext cx="6729984" cy="475488"/>
          </a:xfrm>
          <a:prstGeom prst="rect">
            <a:avLst/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7218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Before You Begin the Experiment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163677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5"/>
                </a:solidFill>
              </a:rPr>
              <a:t>Tap the 3 areas that could compromise sample integrity.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7824" y="2084832"/>
            <a:ext cx="4601261" cy="2240280"/>
          </a:xfrm>
          <a:prstGeom prst="roundRect">
            <a:avLst>
              <a:gd name="adj" fmla="val 2041"/>
            </a:avLst>
          </a:prstGeom>
          <a:solidFill>
            <a:srgbClr val="F6F8FB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3063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5"/>
                </a:solidFill>
              </a:rPr>
              <a:t>Main lab scene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5568" y="3703320"/>
            <a:ext cx="3789274" cy="329184"/>
          </a:xfrm>
          <a:prstGeom prst="rect">
            <a:avLst/>
          </a:prstGeom>
          <a:solidFill>
            <a:srgbClr val="D7E2EB"/>
          </a:solidFill>
          <a:ln w="12700">
            <a:solidFill>
              <a:srgbClr val="C7D4D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304288"/>
            <a:ext cx="1005840" cy="15361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664208" y="224942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92224" y="2377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746"/>
                </a:solidFill>
              </a:rPr>
              <a:t>“Before we begin, which 3 things here could contaminate the experiment?”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2258568" y="32461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54580" y="33192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72968" y="29718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8980" y="30449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950208" y="31546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6220" y="32278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81728" y="30632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7740" y="31363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38928" y="35661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4940" y="36393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84648" y="4846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Selected: 0 of 3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64808" y="4727448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C7D4D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4818888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41848" y="4727448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48188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285"/>
                </a:solidFill>
              </a:rPr>
              <a:t>Reset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662672" y="1389888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662672" y="1389888"/>
            <a:ext cx="73152" cy="1097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27264" y="14996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What is visible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827264" y="1773936"/>
            <a:ext cx="349300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Title, instruction, lab assistant with dialogue bubble, full lab scene, neutral hotspots, selected count at 0 of 3, disabled Submit, collapsed bottom panel.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662672" y="2697480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662672" y="2697480"/>
            <a:ext cx="73152" cy="114300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27264" y="280720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Character prompt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827264" y="3081528"/>
            <a:ext cx="34930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“Before we begin, check the setup. Which 3 things here could contaminate the experiment?”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662672" y="4041648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662672" y="4041648"/>
            <a:ext cx="73152" cy="14173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27264" y="415137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Default-state guidance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827264" y="4425696"/>
            <a:ext cx="349300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Do not reveal where the learner should look. Allow only subtle hover or press affordance. The scene should invite inspection rather than explanation.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States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F65"/>
                </a:solidFill>
              </a:rPr>
              <a:t>STATE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6766560" cy="4617720"/>
          </a:xfrm>
          <a:prstGeom prst="roundRect">
            <a:avLst>
              <a:gd name="adj" fmla="val 1584"/>
            </a:avLst>
          </a:prstGeom>
          <a:solidFill>
            <a:srgbClr val="F9FBFD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371600"/>
            <a:ext cx="6729984" cy="475488"/>
          </a:xfrm>
          <a:prstGeom prst="rect">
            <a:avLst/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5389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Before You Begin the Experiment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161848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5"/>
                </a:solidFill>
              </a:rPr>
              <a:t>Tap the 3 areas that could compromise sample integrity.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7824" y="2066544"/>
            <a:ext cx="4601261" cy="2262683"/>
          </a:xfrm>
          <a:prstGeom prst="roundRect">
            <a:avLst>
              <a:gd name="adj" fmla="val 2021"/>
            </a:avLst>
          </a:prstGeom>
          <a:solidFill>
            <a:srgbClr val="F6F8FB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3044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5"/>
                </a:solidFill>
              </a:rPr>
              <a:t>Main lab scene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5568" y="3685032"/>
            <a:ext cx="3789274" cy="329184"/>
          </a:xfrm>
          <a:prstGeom prst="rect">
            <a:avLst/>
          </a:prstGeom>
          <a:solidFill>
            <a:srgbClr val="D7E2EB"/>
          </a:solidFill>
          <a:ln w="12700">
            <a:solidFill>
              <a:srgbClr val="C7D4D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86000"/>
            <a:ext cx="1005840" cy="15361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664208" y="2231136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92224" y="235915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746"/>
                </a:solidFill>
              </a:rPr>
              <a:t>“Before we begin, which 3 things here could contaminate the experiment?”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2258568" y="3227832"/>
            <a:ext cx="320040" cy="320040"/>
          </a:xfrm>
          <a:prstGeom prst="ellipse">
            <a:avLst/>
          </a:prstGeom>
          <a:solidFill>
            <a:srgbClr val="DFF0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54580" y="330098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0ED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72968" y="2953512"/>
            <a:ext cx="320040" cy="320040"/>
          </a:xfrm>
          <a:prstGeom prst="ellipse">
            <a:avLst/>
          </a:prstGeom>
          <a:solidFill>
            <a:srgbClr val="DFF0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8980" y="302666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0ED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950208" y="3136392"/>
            <a:ext cx="320040" cy="320040"/>
          </a:xfrm>
          <a:prstGeom prst="ellipse">
            <a:avLst/>
          </a:prstGeom>
          <a:solidFill>
            <a:srgbClr val="DFF0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6220" y="32095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0ED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81728" y="304495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7740" y="311810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38928" y="354787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4940" y="362102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84648" y="4873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Selected: 3 of 3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64808" y="4754880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4846320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41848" y="4754880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4846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285"/>
                </a:solidFill>
              </a:rPr>
              <a:t>Reset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662672" y="137160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662672" y="1371600"/>
            <a:ext cx="73152" cy="1234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27264" y="148132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When a hotspot is selected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827264" y="1755648"/>
            <a:ext cx="349300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The hotspot gets a neutral selected treatment such as a blue ring or thin outline. This confirms choice only; it must not reveal correctness.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662672" y="278892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662672" y="2788920"/>
            <a:ext cx="73152" cy="13258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27264" y="28986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Selection rules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827264" y="3172968"/>
            <a:ext cx="349300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Max 3 simultaneous selections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Deselect allowed by tapping again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Reset activates after first choice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Submit enables only at exactly 3 selected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662672" y="4315968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662672" y="4315968"/>
            <a:ext cx="73152" cy="114300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27264" y="44256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Boundary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827264" y="4700016"/>
            <a:ext cx="34930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If 3 are already selected, a 4th tap should do nothing or softly prompt the learner to deselect one first.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State_Submit_Evaluation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F65"/>
                </a:solidFill>
              </a:rPr>
              <a:t>STATE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F9FBFD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344168"/>
            <a:ext cx="6729984" cy="475488"/>
          </a:xfrm>
          <a:prstGeom prst="rect">
            <a:avLst/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264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Before You Begin the Experiment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159105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5"/>
                </a:solidFill>
              </a:rPr>
              <a:t>Tap the 3 areas that could compromise sample integrity.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7824" y="2039112"/>
            <a:ext cx="4601261" cy="2285086"/>
          </a:xfrm>
          <a:prstGeom prst="roundRect">
            <a:avLst>
              <a:gd name="adj" fmla="val 2001"/>
            </a:avLst>
          </a:prstGeom>
          <a:solidFill>
            <a:srgbClr val="F6F8FB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3017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5"/>
                </a:solidFill>
              </a:rPr>
              <a:t>Main lab scene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5568" y="3657600"/>
            <a:ext cx="3789274" cy="329184"/>
          </a:xfrm>
          <a:prstGeom prst="rect">
            <a:avLst/>
          </a:prstGeom>
          <a:solidFill>
            <a:srgbClr val="D7E2EB"/>
          </a:solidFill>
          <a:ln w="12700">
            <a:solidFill>
              <a:srgbClr val="C7D4D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58568"/>
            <a:ext cx="1005840" cy="15361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664208" y="220370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92224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746"/>
                </a:solidFill>
              </a:rPr>
              <a:t>“Before we begin, which 3 things here could contaminate the experiment?”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2258568" y="3200400"/>
            <a:ext cx="320040" cy="320040"/>
          </a:xfrm>
          <a:prstGeom prst="ellipse">
            <a:avLst/>
          </a:prstGeom>
          <a:solidFill>
            <a:srgbClr val="EAF8F1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54580" y="32735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F65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72968" y="2926080"/>
            <a:ext cx="320040" cy="320040"/>
          </a:xfrm>
          <a:prstGeom prst="ellipse">
            <a:avLst/>
          </a:prstGeom>
          <a:solidFill>
            <a:srgbClr val="EAF8F1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8980" y="29992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F65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950208" y="3108960"/>
            <a:ext cx="320040" cy="32004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6220" y="31821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0ED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81728" y="3017520"/>
            <a:ext cx="320040" cy="320040"/>
          </a:xfrm>
          <a:prstGeom prst="ellipse">
            <a:avLst/>
          </a:prstGeom>
          <a:solidFill>
            <a:srgbClr val="FCEEEE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7740" y="30906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4C4C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38928" y="35204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4940" y="35935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84648" y="48920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Selected: 0 of 3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64808" y="4773168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4864608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41848" y="4773168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48646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285"/>
                </a:solidFill>
              </a:rPr>
              <a:t>Reset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1520" y="4754880"/>
            <a:ext cx="6620256" cy="1051560"/>
          </a:xfrm>
          <a:prstGeom prst="roundRect">
            <a:avLst>
              <a:gd name="adj" fmla="val 5217"/>
            </a:avLst>
          </a:prstGeom>
          <a:solidFill>
            <a:srgbClr val="F8FB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9536" y="49103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4A"/>
                </a:solidFill>
              </a:rPr>
              <a:t>You identified some risks, but missed others.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59536" y="5138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Open exposure and glove-to-phone contact are contamination risks. The sterile packet is safe as shown. The unlabeled bottle was a missed risk.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464808" y="5330952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11112" y="540410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Retry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662672" y="137160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662672" y="1371600"/>
            <a:ext cx="73152" cy="1325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27264" y="148132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Immediate response after Submit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827264" y="1755648"/>
            <a:ext cx="349300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Selected hotspots lock. Correct selections get green markers. Incorrect selections get amber/red markers. Missed correct hotspots are revealed with a distinct “missed risk” treatment.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662672" y="2907792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662672" y="2907792"/>
            <a:ext cx="73152" cy="114300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27264" y="3017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Bottom panel behavior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827264" y="3291840"/>
            <a:ext cx="34930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 feedback pop-up opens upward from the bottom. The lab scene stays visible; the base layout does not change.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7662672" y="4261104"/>
            <a:ext cx="3749040" cy="1207008"/>
          </a:xfrm>
          <a:prstGeom prst="roundRect">
            <a:avLst>
              <a:gd name="adj" fmla="val 4545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662672" y="4261104"/>
            <a:ext cx="73152" cy="1207008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27264" y="437083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Instructional boundary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827264" y="4645152"/>
            <a:ext cx="349300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Evaluation should feel informative, not punitive. The screen is debriefing the learner’s scan, not “marking a wrong answer.”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Hotspot-Specific Feedback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A63B"/>
                </a:solidFill>
              </a:rPr>
              <a:t>FEEDBACK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EAF8F1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89888"/>
            <a:ext cx="73152" cy="1078992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996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HS_01 · Open petri dish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4015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An open petri dish is vulnerable to airborne and contact contamination. Leaving it exposed before controlled use increases sample risk.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706624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EAF8F1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706624"/>
            <a:ext cx="73152" cy="1078992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1635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HS_02 · Gloved hand touching phone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090672"/>
            <a:ext cx="34015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Touching a personal phone with lab gloves can transfer contaminants between non-lab and lab surfaces. This creates cross-contact risk.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EAF8F1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023360"/>
            <a:ext cx="73152" cy="1078992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3308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HS_03 · Unlabeled reagent bottle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407408"/>
            <a:ext cx="34015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An unlabeled reagent creates risk because the contents cannot be verified confidently. Misidentification can affect safety and integrity.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62272" y="1389888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FF5E6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62272" y="1389888"/>
            <a:ext cx="73152" cy="1078992"/>
          </a:xfrm>
          <a:prstGeom prst="rect">
            <a:avLst/>
          </a:prstGeom>
          <a:solidFill>
            <a:srgbClr val="E2A63B"/>
          </a:solidFill>
          <a:ln w="12700">
            <a:solidFill>
              <a:srgbClr val="E2A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4996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HS_04 · Closed sterile packet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26864" y="1773936"/>
            <a:ext cx="34015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Safe as shown. The item remains sealed and has not yet been opened, so it is not a contamination risk in this state.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62272" y="2706624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FFF5E6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2706624"/>
            <a:ext cx="73152" cy="1078992"/>
          </a:xfrm>
          <a:prstGeom prst="rect">
            <a:avLst/>
          </a:prstGeom>
          <a:solidFill>
            <a:srgbClr val="E2A63B"/>
          </a:solidFill>
          <a:ln w="12700">
            <a:solidFill>
              <a:srgbClr val="E2A6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281635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HS_05 · Properly placed waste container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26864" y="3090672"/>
            <a:ext cx="34015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Acceptable placement. It supports safe disposal and is not itself one of the contamination risks in this setup.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66760" y="1389888"/>
            <a:ext cx="3273552" cy="3712464"/>
          </a:xfrm>
          <a:prstGeom prst="roundRect">
            <a:avLst>
              <a:gd name="adj" fmla="val 1676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66760" y="1389888"/>
            <a:ext cx="73152" cy="3712464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1352" y="14996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Feedback-writing rule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31352" y="1773936"/>
            <a:ext cx="3017520" cy="3236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Every rationale must explain why the item is risky or acceptable. Avoid “gotcha” language. The voice should feel like guided lab reasoning from a credible instructor or assistant.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States and Bottom-Panel Messaging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</a:rPr>
              <a:t>OUTCOMES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AF8F1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89888"/>
            <a:ext cx="73152" cy="1691640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99616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Outcome A · Fully correct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355848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Header: Well spotted.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Body: You identified the key contamination risks before the experiment began. Strong pre-lab observation helps prevent avoidable contamination and handling errors.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46704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FF5E6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346704"/>
            <a:ext cx="73152" cy="1783080"/>
          </a:xfrm>
          <a:prstGeom prst="rect">
            <a:avLst/>
          </a:prstGeom>
          <a:solidFill>
            <a:srgbClr val="E2A63B"/>
          </a:solidFill>
          <a:ln w="12700">
            <a:solidFill>
              <a:srgbClr val="E2A6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56432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Outcome B · Partially correct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30752"/>
            <a:ext cx="335584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Header: You identified some risks, but missed others.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Body: A few important contamination risks were correctly identified, but some selected items were safe or lower risk.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16552" y="1389888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CEEEE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16552" y="1389888"/>
            <a:ext cx="73152" cy="1920240"/>
          </a:xfrm>
          <a:prstGeom prst="rect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499616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Outcome C · Mostly incorrect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1144" y="1773936"/>
            <a:ext cx="335584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Header: Take another look at the setup.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Body: The highest-risk contamination points were not fully identified. Focus on items that are exposed, mislabeled, or likely to transfer contamination.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16552" y="3584448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16552" y="3584448"/>
            <a:ext cx="73152" cy="15544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694176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Tone requirement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81144" y="3968496"/>
            <a:ext cx="335584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All outcomes remain supportive and academic. Even the weakest outcome should coach the learner toward better scanning logic.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75320" y="1389888"/>
            <a:ext cx="3364992" cy="3749040"/>
          </a:xfrm>
          <a:prstGeom prst="roundRect">
            <a:avLst>
              <a:gd name="adj" fmla="val 1630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1389888"/>
            <a:ext cx="73152" cy="374904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9912" y="14996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Shared reinforcement 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39912" y="1773936"/>
            <a:ext cx="3108960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Contamination risk often begins with small setup oversights.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Alternative reinforcement wording can be used, but it must always summarize the three core patterns: exposure, cross-contact, and unclear labeling.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Pop-Up Panel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0ED"/>
                </a:solidFill>
              </a:rPr>
              <a:t>PANEL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600200"/>
            <a:ext cx="10378440" cy="3931920"/>
          </a:xfrm>
          <a:prstGeom prst="roundRect">
            <a:avLst>
              <a:gd name="adj" fmla="val 1860"/>
            </a:avLst>
          </a:prstGeom>
          <a:solidFill>
            <a:srgbClr val="F8FB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00200"/>
            <a:ext cx="1037844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EEF5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373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Layer 1 · Outcome header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Layer 2 · Overall evaluation paragraph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Layer 3 · Item-specific rationale rows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1605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Layer 4 · Reinforcement summary + CTA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743200"/>
            <a:ext cx="6263640" cy="347472"/>
          </a:xfrm>
          <a:prstGeom prst="roundRect">
            <a:avLst>
              <a:gd name="adj" fmla="val 7895"/>
            </a:avLst>
          </a:prstGeom>
          <a:solidFill>
            <a:srgbClr val="EAF8F1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3218688"/>
            <a:ext cx="6263640" cy="347472"/>
          </a:xfrm>
          <a:prstGeom prst="roundRect">
            <a:avLst>
              <a:gd name="adj" fmla="val 7895"/>
            </a:avLst>
          </a:prstGeom>
          <a:solidFill>
            <a:srgbClr val="FCEEEE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3694176"/>
            <a:ext cx="6263640" cy="347472"/>
          </a:xfrm>
          <a:prstGeom prst="roundRect">
            <a:avLst>
              <a:gd name="adj" fmla="val 7895"/>
            </a:avLst>
          </a:prstGeom>
          <a:solidFill>
            <a:srgbClr val="EAF3FF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43746"/>
                </a:solidFill>
              </a:rPr>
              <a:t>This panel should feel like an instructional debrief, not a system error tray.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64040" y="45262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74352" y="4626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State_Complete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F65"/>
                </a:solidFill>
              </a:rPr>
              <a:t>STATE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F9FBFD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344168"/>
            <a:ext cx="6729984" cy="475488"/>
          </a:xfrm>
          <a:prstGeom prst="rect">
            <a:avLst/>
          </a:prstGeom>
          <a:solidFill>
            <a:srgbClr val="EDF4FA"/>
          </a:solidFill>
          <a:ln w="12700">
            <a:solidFill>
              <a:srgbClr val="ED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264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Before You Begin the Experiment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159105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5"/>
                </a:solidFill>
              </a:rPr>
              <a:t>Tap the 3 areas that could compromise sample integrity.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7824" y="2039112"/>
            <a:ext cx="4601261" cy="2285086"/>
          </a:xfrm>
          <a:prstGeom prst="roundRect">
            <a:avLst>
              <a:gd name="adj" fmla="val 2001"/>
            </a:avLst>
          </a:prstGeom>
          <a:solidFill>
            <a:srgbClr val="F6F8FB"/>
          </a:solidFill>
          <a:ln w="12700">
            <a:solidFill>
              <a:srgbClr val="E7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3017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5"/>
                </a:solidFill>
              </a:rPr>
              <a:t>Main lab scene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5568" y="3657600"/>
            <a:ext cx="3789274" cy="329184"/>
          </a:xfrm>
          <a:prstGeom prst="rect">
            <a:avLst/>
          </a:prstGeom>
          <a:solidFill>
            <a:srgbClr val="D7E2EB"/>
          </a:solidFill>
          <a:ln w="12700">
            <a:solidFill>
              <a:srgbClr val="C7D4D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58568"/>
            <a:ext cx="1005840" cy="15361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664208" y="2203704"/>
            <a:ext cx="2331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92224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746"/>
                </a:solidFill>
              </a:rPr>
              <a:t>“Before we begin, which 3 things here could contaminate the experiment?”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2258568" y="32004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54580" y="32735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72968" y="29260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8980" y="29992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950208" y="31089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6220" y="31821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81728" y="30175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7740" y="30906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38928" y="35204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4940" y="35935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285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84648" y="48920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Selected: 0 of 3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64808" y="4773168"/>
            <a:ext cx="685800" cy="329184"/>
          </a:xfrm>
          <a:prstGeom prst="roundRect">
            <a:avLst>
              <a:gd name="adj" fmla="val 1388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4864608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41848" y="4773168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48646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285"/>
                </a:solidFill>
              </a:rPr>
              <a:t>Reset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1520" y="4754880"/>
            <a:ext cx="6620256" cy="1051560"/>
          </a:xfrm>
          <a:prstGeom prst="roundRect">
            <a:avLst>
              <a:gd name="adj" fmla="val 5217"/>
            </a:avLst>
          </a:prstGeom>
          <a:solidFill>
            <a:srgbClr val="F8FBFF"/>
          </a:solidFill>
          <a:ln w="12700">
            <a:solidFill>
              <a:srgbClr val="C7D4D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9536" y="49103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4A"/>
                </a:solidFill>
              </a:rPr>
              <a:t>You identified some risks, but missed others.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59536" y="5138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Open exposure and glove-to-phone contact are contamination risks. The sterile packet is safe as shown. The unlabeled bottle was a missed risk.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464808" y="5330952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11112" y="540410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Retry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662672" y="1389888"/>
            <a:ext cx="3749040" cy="1170432"/>
          </a:xfrm>
          <a:prstGeom prst="roundRect">
            <a:avLst>
              <a:gd name="adj" fmla="val 4688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662672" y="1389888"/>
            <a:ext cx="73152" cy="1170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27264" y="14996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Completion-state behavior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827264" y="1773936"/>
            <a:ext cx="34930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Evaluated markers remain visible. Bottom panel stays open. No further selection occurs unless Retry is clicked.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662672" y="2761488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662672" y="2761488"/>
            <a:ext cx="73152" cy="141732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27264" y="28712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Final reinforcement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827264" y="3145536"/>
            <a:ext cx="349300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Before starting an experiment, scan the setup for three common patterns: exposed materials, cross-contact between surfaces, and unclear labeling.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7662672" y="4389120"/>
            <a:ext cx="3749040" cy="1078992"/>
          </a:xfrm>
          <a:prstGeom prst="roundRect">
            <a:avLst>
              <a:gd name="adj" fmla="val 5085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662672" y="4389120"/>
            <a:ext cx="73152" cy="1078992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27264" y="44988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Design intent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827264" y="4773168"/>
            <a:ext cx="349300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Completion should feel like a reviewable teaching moment, not a score screen.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Logic, Variables, and State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72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A63B"/>
                </a:solidFill>
              </a:rPr>
              <a:t>BUILD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89888"/>
            <a:ext cx="73152" cy="2057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9961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Suggested variables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172968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selected_count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hs01_selected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hs02_selected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hs03_selected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hs04_selected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hs05_selected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correct_count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incorrect_count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outcome_state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694176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694176"/>
            <a:ext cx="73152" cy="141732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0390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State 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78224"/>
            <a:ext cx="31729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State_Default → State_Selected_1 → State_Selected_2 → State_Selected_3 → State_Submit_Evaluation → State_Complete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24528" y="1389888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1389888"/>
            <a:ext cx="73152" cy="1965960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499616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Trigger logic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1773936"/>
            <a:ext cx="335584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Hotspot click toggles selection. Submit enables only when selected_count = 3. On submit, calculate correct_count and incorrect_count, reveal missed correct hotspots, open bottom panel, and set outcome_state.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24528" y="3611880"/>
            <a:ext cx="3611880" cy="1508760"/>
          </a:xfrm>
          <a:prstGeom prst="roundRect">
            <a:avLst>
              <a:gd name="adj" fmla="val 3636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24528" y="3611880"/>
            <a:ext cx="73152" cy="15087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721608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Outcome logic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3995928"/>
            <a:ext cx="3355848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correct_count = 3 → fully correct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correct_count = 2 → partial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correct_count = 1 or 0 → mostly incorrect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74152" y="1389888"/>
            <a:ext cx="3566160" cy="3730752"/>
          </a:xfrm>
          <a:prstGeom prst="roundRect">
            <a:avLst>
              <a:gd name="adj" fmla="val 1538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74152" y="1389888"/>
            <a:ext cx="73152" cy="3730752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149961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No-go rules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38744" y="1773936"/>
            <a:ext cx="3310128" cy="3255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Do not reveal correctness before submit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Do not allow more than 3 simultaneous selections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Do not shift scene layout between states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Do not hide the character after submission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Do not replace the lab background after evaluation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Boundaries and Experience Guidelines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CEEEE"/>
          </a:solidFill>
          <a:ln w="12700">
            <a:solidFill>
              <a:srgbClr val="FC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4C4C"/>
                </a:solidFill>
              </a:rPr>
              <a:t>BOUNDARIES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3657600" cy="1536192"/>
          </a:xfrm>
          <a:prstGeom prst="roundRect">
            <a:avLst>
              <a:gd name="adj" fmla="val 357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89888"/>
            <a:ext cx="73152" cy="15361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996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Visual guidance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40156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Keep the lab scene realistic and uncluttered. The character should feel credible, not mascot-like. Avoid loud gamified treatments or excessive motion.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3657600" cy="1536192"/>
          </a:xfrm>
          <a:prstGeom prst="roundRect">
            <a:avLst>
              <a:gd name="adj" fmla="val 357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200400"/>
            <a:ext cx="73152" cy="1536192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1012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Interaction guidance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340156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Hotspots must be comfortably clickable. Selected state should be obvious. Marker systems must clearly differentiate correct, incorrect, and missed correct.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62272" y="1389888"/>
            <a:ext cx="3657600" cy="1536192"/>
          </a:xfrm>
          <a:prstGeom prst="roundRect">
            <a:avLst>
              <a:gd name="adj" fmla="val 3571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62272" y="1389888"/>
            <a:ext cx="73152" cy="1536192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4996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Instructional guidance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26864" y="1773936"/>
            <a:ext cx="340156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Do not increase the number of contamination risks beyond 3 in this module. Feedback must explain why, not just what. The learner should leave with pattern recognition, not memorization.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62272" y="3200400"/>
            <a:ext cx="3657600" cy="1536192"/>
          </a:xfrm>
          <a:prstGeom prst="roundRect">
            <a:avLst>
              <a:gd name="adj" fmla="val 3571"/>
            </a:avLst>
          </a:prstGeom>
          <a:solidFill>
            <a:srgbClr val="FFF5E6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62272" y="3200400"/>
            <a:ext cx="73152" cy="1536192"/>
          </a:xfrm>
          <a:prstGeom prst="rect">
            <a:avLst/>
          </a:prstGeom>
          <a:solidFill>
            <a:srgbClr val="E2A63B"/>
          </a:solidFill>
          <a:ln w="12700">
            <a:solidFill>
              <a:srgbClr val="E2A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31012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Tone guidance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26864" y="3584448"/>
            <a:ext cx="340156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Balanced: developer-friendly, instructional, concise, and academically credible. Not overly technical, not overly playful.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66760" y="1389888"/>
            <a:ext cx="3273552" cy="3346704"/>
          </a:xfrm>
          <a:prstGeom prst="roundRect">
            <a:avLst>
              <a:gd name="adj" fmla="val 1676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1389888"/>
            <a:ext cx="73152" cy="3346704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1352" y="14996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One-line standard to preserve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31352" y="1773936"/>
            <a:ext cx="3017520" cy="2871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This module should feel like a guided pre-lab scan performed with a lab assistant, not a game level and not a lecture slide.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 Checklist / Acceptance Criteria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201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8F0"/>
                </a:solidFill>
              </a:rPr>
              <a:t>Module 1 · Developer storyboard draft · Balanced detail level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7899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33856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F65"/>
                </a:solidFill>
              </a:rPr>
              <a:t>QA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89888"/>
            <a:ext cx="73152" cy="19202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99616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Functional checks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2644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Learner can select and deselect hotspots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Max 3 selections enforced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Submit enables only at 3 selected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Evaluation correctly identifies all 5 hotspot outcomes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Retry fully resets all states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584448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584448"/>
            <a:ext cx="73152" cy="15544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94176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UX checks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968496"/>
            <a:ext cx="32644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Character prompt is readable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Scene stays stable across states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Bottom panel opens cleanly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Marker system is clear and not overcrowded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15968" y="1389888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AFCFF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1389888"/>
            <a:ext cx="73152" cy="1920240"/>
          </a:xfrm>
          <a:prstGeom prst="rect">
            <a:avLst/>
          </a:prstGeom>
          <a:solidFill>
            <a:srgbClr val="2E9F65"/>
          </a:solidFill>
          <a:ln w="12700">
            <a:solidFill>
              <a:srgbClr val="2E9F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499616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Instructional checks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1773936"/>
            <a:ext cx="32644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Learning outcome matches the task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Correct hotspots reflect real contamination risk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Distractors feel plausible, not trick-based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• Final reinforcement summarizes exposure, cross-contact, and labeling clearly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584448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5E6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3584448"/>
            <a:ext cx="73152" cy="1554480"/>
          </a:xfrm>
          <a:prstGeom prst="rect">
            <a:avLst/>
          </a:prstGeom>
          <a:solidFill>
            <a:srgbClr val="E2A63B"/>
          </a:solidFill>
          <a:ln w="12700">
            <a:solidFill>
              <a:srgbClr val="E2A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694176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Approval condition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3968496"/>
            <a:ext cx="32644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Approve when the learner can smoothly inspect, select, evaluate, and leave with a stronger understanding of visible contamination risk patterns.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1389888"/>
            <a:ext cx="3566160" cy="3749040"/>
          </a:xfrm>
          <a:prstGeom prst="roundRect">
            <a:avLst>
              <a:gd name="adj" fmla="val 1538"/>
            </a:avLst>
          </a:prstGeom>
          <a:solidFill>
            <a:srgbClr val="F7FAFD"/>
          </a:solidFill>
          <a:ln w="12700">
            <a:solidFill>
              <a:srgbClr val="E7EDF3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1389888"/>
            <a:ext cx="73152" cy="3749040"/>
          </a:xfrm>
          <a:prstGeom prst="rect">
            <a:avLst/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49961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A"/>
                </a:solidFill>
              </a:rPr>
              <a:t>Reuse value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1773936"/>
            <a:ext cx="3310128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If this structure works for you, we can use the same developer-storyboard standard for the remaining three modules with interaction-specific adjustments.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Next build candidates: Academic Writing, Manager Conversation, Workplace Safety Escalation.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6473952"/>
            <a:ext cx="11247120" cy="0"/>
          </a:xfrm>
          <a:prstGeom prst="line">
            <a:avLst/>
          </a:prstGeom>
          <a:noFill/>
          <a:ln w="12700">
            <a:solidFill>
              <a:srgbClr val="E7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19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85"/>
                </a:solidFill>
              </a:rPr>
              <a:t>Biology Lab Safety · 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Lab Safety Developer Storyboard</dc:title>
  <dc:subject>Developer storyboard for Biology Lab Safety interactive module</dc:subject>
  <dc:creator>OpenAI</dc:creator>
  <cp:lastModifiedBy>OpenAI</cp:lastModifiedBy>
  <cp:revision>1</cp:revision>
  <dcterms:created xsi:type="dcterms:W3CDTF">2026-04-08T17:24:04Z</dcterms:created>
  <dcterms:modified xsi:type="dcterms:W3CDTF">2026-04-08T17:24:04Z</dcterms:modified>
</cp:coreProperties>
</file>